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Edition</a:t>
            </a:r>
            <a:pPr indent="0" marL="0">
              <a:buNone/>
            </a:pPr>
            <a:r>
              <a:rPr lang="en-US" sz="2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2026 – 27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7033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Guided Troubleshooting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1056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5079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10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9103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Vedaang Pratap Singh  •  Mayank Singh  •  Maitri Tyagi  •  Aryaman Narain Pandey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50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55504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Proof-Carrying Troubleshooting Engine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52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9527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github.com/AryamanPandey-art/ANCHOR</a:t>
            </a:r>
            <a:endParaRPr lang="en-US" sz="1500" dirty="0"/>
          </a:p>
        </p:txBody>
      </p:sp>
      <p:pic>
        <p:nvPicPr>
          <p:cNvPr id="19" name="Image 0" descr="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502920"/>
            <a:ext cx="4572000" cy="4572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406640" y="5486400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5486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PROOF-CARRYING TROUBLESHOOTING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Guided Troubleshooting Engine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vague device complaint into clean, ordered troubleshooting steps — then map each step to the exact Galaxy Settings action.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22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527048"/>
            <a:ext cx="54864" cy="119786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Samsung's target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57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REST API  •  reusable mapping  •  fast-path cache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5422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3127248"/>
            <a:ext cx="54864" cy="119786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interpretation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57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generation with deterministic verification before anything reaches the user.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make an LLM useful for troubleshooting without letting it invent the fix?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&amp; gaps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35608"/>
            <a:ext cx="54864" cy="156362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support search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documentation, rewrites steps, then the customer hunts through Settings.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0540" y="132588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0540" y="1435608"/>
            <a:ext cx="54864" cy="156362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9140" y="15087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/ RAG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49140" y="196596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symptoms well, but may produce unsupported steps or the wrong Settings direction.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435608"/>
            <a:ext cx="54864" cy="156362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5087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FAQ flows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96596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known wording, weaker when users paraphrase.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3153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95928"/>
            <a:ext cx="54864" cy="78638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886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886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troubleshooting step must come from SIIS evidence.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8776" y="3886200"/>
            <a:ext cx="543153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3995928"/>
            <a:ext cx="54864" cy="78638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3886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ACTIONABILITY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11896" y="3886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should lead to the correct Settings screen.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3153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184648"/>
            <a:ext cx="54864" cy="78638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SAFETY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507492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on” and “turn off” are different actions.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08776" y="5074920"/>
            <a:ext cx="543153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5184648"/>
            <a:ext cx="54864" cy="78638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37376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11896" y="507492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and paraphrased requests should reuse validated work.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&amp;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81328"/>
            <a:ext cx="54864" cy="174650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420624" cy="420624"/>
          </a:xfrm>
          <a:prstGeom prst="ellipse">
            <a:avLst/>
          </a:prstGeom>
          <a:solidFill>
            <a:srgbClr val="3B5BBF"/>
          </a:solidFill>
          <a:ln w="6350">
            <a:solidFill>
              <a:srgbClr val="3B5B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complaint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5646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6460" y="1481328"/>
            <a:ext cx="54864" cy="174650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9340" y="1572768"/>
            <a:ext cx="420624" cy="420624"/>
          </a:xfrm>
          <a:prstGeom prst="ellipse">
            <a:avLst/>
          </a:prstGeom>
          <a:solidFill>
            <a:srgbClr val="6B4A9E"/>
          </a:solidFill>
          <a:ln w="6350">
            <a:solidFill>
              <a:srgbClr val="6B4A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93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3934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3934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 state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6428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4280" y="1481328"/>
            <a:ext cx="54864" cy="174650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7160" y="1572768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716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4716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4716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evidence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7210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2100" y="1481328"/>
            <a:ext cx="54864" cy="174650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4980" y="1572768"/>
            <a:ext cx="420624" cy="420624"/>
          </a:xfrm>
          <a:prstGeom prst="ellipse">
            <a:avLst/>
          </a:prstGeom>
          <a:solidFill>
            <a:srgbClr val="3B5BBF"/>
          </a:solidFill>
          <a:ln w="6350">
            <a:solidFill>
              <a:srgbClr val="3B5B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549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5498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5498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7992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79920" y="1481328"/>
            <a:ext cx="54864" cy="174650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2800" y="1572768"/>
            <a:ext cx="420624" cy="420624"/>
          </a:xfrm>
          <a:prstGeom prst="ellipse">
            <a:avLst/>
          </a:prstGeom>
          <a:solidFill>
            <a:srgbClr val="6B4A9E"/>
          </a:solidFill>
          <a:ln w="6350">
            <a:solidFill>
              <a:srgbClr val="6B4A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6280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6280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6280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direction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8774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7740" y="1481328"/>
            <a:ext cx="54864" cy="174650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0620" y="1572768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7062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77062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DEEPLINK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77062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resolution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195560" y="1371600"/>
            <a:ext cx="1444752" cy="1965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5560" y="1481328"/>
            <a:ext cx="54864" cy="174650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78440" y="1572768"/>
            <a:ext cx="420624" cy="420624"/>
          </a:xfrm>
          <a:prstGeom prst="ellipse">
            <a:avLst/>
          </a:prstGeom>
          <a:solidFill>
            <a:srgbClr val="3B5BBF"/>
          </a:solidFill>
          <a:ln w="6350">
            <a:solidFill>
              <a:srgbClr val="3B5BB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784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378440" y="21488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378440" y="25146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response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36576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3767328"/>
            <a:ext cx="54864" cy="96926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3657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GATE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91840" y="40233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29184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SIIS support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394960" y="40233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9496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match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498080" y="40233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9808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validity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601200" y="40233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0120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 leakage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5257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the LLM proposes; deterministic code decides what is allowed to ship.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product walkthrough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3258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“Turn on Touch Sensitivity”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47872" cy="2514600"/>
          </a:xfrm>
          <a:prstGeom prst="roundRect">
            <a:avLst>
              <a:gd name="adj" fmla="val 4364"/>
            </a:avLst>
          </a:prstGeom>
          <a:solidFill>
            <a:srgbClr val="EEF2FC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21408"/>
            <a:ext cx="54864" cy="229514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SIIS: Touchscreen issues on a Galaxy phone or tablet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step: Touch Sensitivity Setting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0540" y="2011680"/>
            <a:ext cx="3547872" cy="2514600"/>
          </a:xfrm>
          <a:prstGeom prst="roundRect">
            <a:avLst>
              <a:gd name="adj" fmla="val 4364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0540" y="2121408"/>
            <a:ext cx="54864" cy="229514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9140" y="21945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49140" y="27432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action: Touch Sensitivity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49140" y="36576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steps supported by the supplied SIIS response are retained.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011680"/>
            <a:ext cx="3547872" cy="2514600"/>
          </a:xfrm>
          <a:prstGeom prst="roundRect">
            <a:avLst>
              <a:gd name="adj" fmla="val 4364"/>
            </a:avLst>
          </a:prstGeom>
          <a:solidFill>
            <a:srgbClr val="E8F6F4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121408"/>
            <a:ext cx="54864" cy="229514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945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path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74320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match 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1089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4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bixby://masked/act/1b0d34e9b4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6576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 URL is emitted.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 sees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EEF2FC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257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5257800"/>
            <a:ext cx="31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830068" y="525780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21508" y="5257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SIIS evidence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796028" y="5257800"/>
            <a:ext cx="31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11496" y="525780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EEF2FC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02936" y="5257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77456" y="5257800"/>
            <a:ext cx="31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392924" y="525780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84364" y="5257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Settings deeplink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358884" y="5257800"/>
            <a:ext cx="31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674352" y="525780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EEF2FC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65792" y="5257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response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81328"/>
            <a:ext cx="54864" cy="822960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•  FastAPI  •  Uvicorn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08776" y="1371600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1481328"/>
            <a:ext cx="54864" cy="822960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7376" y="15270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1874520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 •  query intent  •  action extraction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54864" cy="822960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34056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08152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SIIS parser  •  relevance filtering  •  evidence selection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08776" y="2578608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688336"/>
            <a:ext cx="54864" cy="822960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2734056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08152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 •  deterministic contract checks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95344"/>
            <a:ext cx="54864" cy="822960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941064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DEEPLINKS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88536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578-entry masked catalog  •  semantic matching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08776" y="3785616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3895344"/>
            <a:ext cx="54864" cy="822960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37376" y="3941064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288536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 •  Vite  •  Axios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4992624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02352"/>
            <a:ext cx="54864" cy="822960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1480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495544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Validated-response cache  •  paraphrase-aware reuse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08776" y="4992624"/>
            <a:ext cx="5431536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5102352"/>
            <a:ext cx="54864" cy="822960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37376" y="51480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5495544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•  benchmark harness  •  URL/schema scans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use cases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“what should I do?” to “here is the supported action.”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12848"/>
            <a:ext cx="54864" cy="156362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vague complaints into consistent, actionable troubleshooting guides.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20540" y="210312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0540" y="2212848"/>
            <a:ext cx="54864" cy="156362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9140" y="22860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49140" y="274320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assistant-generated guidance into a direct Settings 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35478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212848"/>
            <a:ext cx="54864" cy="1563624"/>
          </a:xfrm>
          <a:prstGeom prst="rect">
            <a:avLst/>
          </a:prstGeom>
          <a:solidFill>
            <a:srgbClr val="2F8F86"/>
          </a:solidFill>
          <a:ln w="12700">
            <a:solidFill>
              <a:srgbClr val="2F8F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2860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operations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validated mappings across thousands of troubleshooting cases.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63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interpretation between the complaint and the fix.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safer boundary between generative reasoning and device actions.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API contract suitable for automated evaluation and future worklet integration.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Innovation, results &amp;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03911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benchmark queries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11780" y="1325880"/>
            <a:ext cx="203911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1780" y="146304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99466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1325880"/>
            <a:ext cx="203911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46304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mismatches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38060" y="1325880"/>
            <a:ext cx="203911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8060" y="146304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52094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leakages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0" y="1325880"/>
            <a:ext cx="203911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146304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avg. latency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431536" cy="2240280"/>
          </a:xfrm>
          <a:prstGeom prst="roundRect">
            <a:avLst>
              <a:gd name="adj" fmla="val 4898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47288"/>
            <a:ext cx="54864" cy="2020824"/>
          </a:xfrm>
          <a:prstGeom prst="rect">
            <a:avLst/>
          </a:prstGeom>
          <a:solidFill>
            <a:srgbClr val="6B4A9E"/>
          </a:solidFill>
          <a:ln w="12700">
            <a:solidFill>
              <a:srgbClr val="6B4A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2044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evidence-to-action grounding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23360"/>
            <a:ext cx="4974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candidates; ANCHOR filters them against SIIS evidence, direction/state, deeplink semantics and the response contract.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08776" y="3337560"/>
            <a:ext cx="5431536" cy="2240280"/>
          </a:xfrm>
          <a:prstGeom prst="roundRect">
            <a:avLst>
              <a:gd name="adj" fmla="val 4898"/>
            </a:avLst>
          </a:prstGeom>
          <a:solidFill>
            <a:srgbClr val="EEF2FC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3447288"/>
            <a:ext cx="54864" cy="2020824"/>
          </a:xfrm>
          <a:prstGeom prst="rect">
            <a:avLst/>
          </a:prstGeom>
          <a:solidFill>
            <a:srgbClr val="3B5BBF"/>
          </a:solidFill>
          <a:ln w="12700">
            <a:solidFill>
              <a:srgbClr val="3B5B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52044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4023360"/>
            <a:ext cx="4974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depends on the supplied SIIS evidence and the masked deeplink catalog. Actions without supporting evidence or a catalog match are not shipped.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the 20-query benchmark harness.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1ECFA"/>
          </a:solidFill>
          <a:ln w="6350">
            <a:solidFill>
              <a:srgbClr val="F1EC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deeplink coverage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463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semantic matching and validation coverage across more Settings actions.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 w="6350">
            <a:solidFill>
              <a:srgbClr val="EEF2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5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semantic cache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651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intent/state-aware similarity so paraphrases reuse validated responses safely.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6F4"/>
          </a:solidFill>
          <a:ln w="6350">
            <a:solidFill>
              <a:srgbClr val="E8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worklet path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API contract to Samsung assistant workflows and operational telemetry.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1ECFA"/>
          </a:solidFill>
          <a:ln w="6350">
            <a:solidFill>
              <a:srgbClr val="F1EC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validation signals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5029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post-action checks where the catalog exposes readable setting state.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Brownie points (differentiation)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ANCHOR different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5994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555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LLM / RAG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A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truth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context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Supplied SIIS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safety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verification gate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be described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from masked catalog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interpretation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ON/OFF state 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ContextDeeplinkResponse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4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555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 each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Validated-response cache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reasoning stays inside a verifiable boundary.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checklist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35608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code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325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with FastAPI + Vue prototype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69880" y="14813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6350">
            <a:solidFill>
              <a:srgbClr val="E8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69880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85416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0756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reproducible setup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0756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architecture, evaluation and usage documented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69880" y="223113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6350">
            <a:solidFill>
              <a:srgbClr val="E8F6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69880" y="22311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 w="9525">
            <a:solidFill>
              <a:srgbClr val="F5D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35224"/>
            <a:ext cx="420624" cy="420624"/>
          </a:xfrm>
          <a:prstGeom prst="ellipse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8254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(≤ 5 minutes)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8254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recording/submission link to be added to the form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469880" y="298094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69880" y="2980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75304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685032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5753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PPT/PDF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5753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Samsung-template presentation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469880" y="373075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6350">
            <a:solidFill>
              <a:srgbClr val="E8F6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69880" y="37307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25112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434840"/>
            <a:ext cx="420624" cy="420624"/>
          </a:xfrm>
          <a:prstGeom prst="ellipse">
            <a:avLst/>
          </a:prstGeom>
          <a:solidFill>
            <a:srgbClr val="2F8F86"/>
          </a:solidFill>
          <a:ln w="6350">
            <a:solidFill>
              <a:srgbClr val="2F8F8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43251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43251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and responsibilities documented in repository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469880" y="44805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6350">
            <a:solidFill>
              <a:srgbClr val="E8F6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69880" y="44805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 w="9525">
            <a:solidFill>
              <a:srgbClr val="F5D9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5184648"/>
            <a:ext cx="420624" cy="420624"/>
          </a:xfrm>
          <a:prstGeom prst="ellipse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371600" y="5074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release tag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PRISM_GENAI_HACKATHON_Y2026 on the final commit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469880" y="523036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69880" y="52303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github.com/AryamanPandey-art/ANCHOR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1887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9525">
            <a:solidFill>
              <a:srgbClr val="DCDC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188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 •  THEME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Proof-Carrying Troubleshooting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symptom → supported action → verified Settings path.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Vedaang Pratap Singh  •  Mayank Singh  •  Maitri Tyagi  •  Aryaman Narain Pandey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ANCHOR - Proof-Carrying Troubleshooting Engine</dc:title>
  <dc:subject>PptxGenJS Presentation</dc:subject>
  <dc:creator>Team ANCHOR, SRM Institute of Science and Technology</dc:creator>
  <cp:lastModifiedBy>Team ANCHOR, SRM Institute of Science and Technology</cp:lastModifiedBy>
  <cp:revision>1</cp:revision>
  <dcterms:created xsi:type="dcterms:W3CDTF">2026-09-30T15:13:31Z</dcterms:created>
  <dcterms:modified xsi:type="dcterms:W3CDTF">2026-09-30T15:13:31Z</dcterms:modified>
</cp:coreProperties>
</file>